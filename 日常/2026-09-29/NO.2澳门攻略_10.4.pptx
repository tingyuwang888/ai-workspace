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498079" cy="6858000"/>
          </a:xfrm>
          <a:prstGeom prst="rect">
            <a:avLst/>
          </a:prstGeom>
          <a:solidFill>
            <a:srgbClr val="0A1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E87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 spc="200">
                <a:solidFill>
                  <a:srgbClr val="F2B441"/>
                </a:solidFill>
                <a:latin typeface="Arial"/>
                <a:ea typeface="Arial"/>
                <a:cs typeface="Arial"/>
              </a:rPr>
              <a:t>MACAU · 1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NO.2 澳门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673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200" b="0">
                <a:solidFill>
                  <a:srgbClr val="C9D4EA"/>
                </a:solidFill>
                <a:latin typeface="PingFang SC"/>
                <a:ea typeface="PingFang SC"/>
                <a:cs typeface="PingFang SC"/>
              </a:rPr>
              <a:t>一日行程攻略 · 世遗半岛 × 路氹金光大道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334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91456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10.4 周日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334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4791456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青茂口岸进出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92040" y="47091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334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4791456"/>
            <a:ext cx="20116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公交 · 轻轨优先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638251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8A8F98"/>
                </a:solidFill>
                <a:latin typeface="Arial"/>
                <a:ea typeface="Arial"/>
                <a:cs typeface="Arial"/>
              </a:rPr>
              <a:t>Prepared with QoderWork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1" spc="120">
                <a:solidFill>
                  <a:srgbClr val="8A8F98"/>
                </a:solidFill>
                <a:latin typeface="Arial"/>
                <a:ea typeface="Arial"/>
                <a:cs typeface="Arial"/>
              </a:rPr>
              <a:t>TRIP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800" b="1">
                <a:solidFill>
                  <a:srgbClr val="142340"/>
                </a:solidFill>
                <a:latin typeface="PingFang SC"/>
                <a:ea typeface="PingFang SC"/>
                <a:cs typeface="PingFang SC"/>
              </a:rPr>
              <a:t>行程总览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371600" cy="36576"/>
          </a:xfrm>
          <a:prstGeom prst="rect">
            <a:avLst/>
          </a:prstGeom>
          <a:solidFill>
            <a:srgbClr val="E87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3454298" cy="416052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3454298" cy="822960"/>
          </a:xfrm>
          <a:prstGeom prst="rect">
            <a:avLst/>
          </a:prstGeom>
          <a:solidFill>
            <a:srgbClr val="2FA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94560"/>
            <a:ext cx="3454298" cy="411480"/>
          </a:xfrm>
          <a:prstGeom prst="rect">
            <a:avLst/>
          </a:prstGeom>
          <a:solidFill>
            <a:srgbClr val="2FA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938528"/>
            <a:ext cx="299709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上午 · 世遗线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49424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南→北 · 全程步行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2926079"/>
            <a:ext cx="128016" cy="128016"/>
          </a:xfrm>
          <a:prstGeom prst="ellipse">
            <a:avLst/>
          </a:prstGeom>
          <a:solidFill>
            <a:srgbClr val="2FA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880360"/>
            <a:ext cx="276849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50" b="0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青茂 → 妈阁（61路）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3493008"/>
            <a:ext cx="128016" cy="128016"/>
          </a:xfrm>
          <a:prstGeom prst="ellipse">
            <a:avLst/>
          </a:prstGeom>
          <a:solidFill>
            <a:srgbClr val="2FA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447288"/>
            <a:ext cx="276849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50" b="0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妈阁庙 · 郑家大屋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4059935"/>
            <a:ext cx="128016" cy="128016"/>
          </a:xfrm>
          <a:prstGeom prst="ellipse">
            <a:avLst/>
          </a:prstGeom>
          <a:solidFill>
            <a:srgbClr val="2FA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014215"/>
            <a:ext cx="276849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50" b="0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议事亭 · 玫瑰堂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4626864"/>
            <a:ext cx="128016" cy="128016"/>
          </a:xfrm>
          <a:prstGeom prst="ellipse">
            <a:avLst/>
          </a:prstGeom>
          <a:solidFill>
            <a:srgbClr val="2FA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581144"/>
            <a:ext cx="276849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50" b="0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大三巴 · 大炮台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486400"/>
            <a:ext cx="2997098" cy="18288"/>
          </a:xfrm>
          <a:prstGeom prst="rect">
            <a:avLst/>
          </a:prstGeom>
          <a:solidFill>
            <a:srgbClr val="E2D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559552"/>
            <a:ext cx="2997098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>
                <a:solidFill>
                  <a:srgbClr val="77726A"/>
                </a:solidFill>
                <a:latin typeface="PingFang SC"/>
                <a:ea typeface="PingFang SC"/>
                <a:cs typeface="PingFang SC"/>
              </a:rPr>
              <a:t>含参观约 2.5–3 小时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68698" y="1783080"/>
            <a:ext cx="3454298" cy="416052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68698" y="1783080"/>
            <a:ext cx="3454298" cy="822960"/>
          </a:xfrm>
          <a:prstGeom prst="rect">
            <a:avLst/>
          </a:prstGeom>
          <a:solidFill>
            <a:srgbClr val="E87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68698" y="2194560"/>
            <a:ext cx="3454298" cy="411480"/>
          </a:xfrm>
          <a:prstGeom prst="rect">
            <a:avLst/>
          </a:prstGeom>
          <a:solidFill>
            <a:srgbClr val="E87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7298" y="1938528"/>
            <a:ext cx="299709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下午 · 半岛东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7298" y="2249424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灯塔 · 赌场 · 过海</a:t>
            </a:r>
          </a:p>
        </p:txBody>
      </p:sp>
      <p:sp>
        <p:nvSpPr>
          <p:cNvPr id="26" name="Oval 25"/>
          <p:cNvSpPr/>
          <p:nvPr/>
        </p:nvSpPr>
        <p:spPr>
          <a:xfrm>
            <a:off x="4597298" y="2926079"/>
            <a:ext cx="128016" cy="128016"/>
          </a:xfrm>
          <a:prstGeom prst="ellipse">
            <a:avLst/>
          </a:prstGeom>
          <a:solidFill>
            <a:srgbClr val="E87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25898" y="2880360"/>
            <a:ext cx="276849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50" b="0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东望洋灯塔（不开放）</a:t>
            </a:r>
          </a:p>
        </p:txBody>
      </p:sp>
      <p:sp>
        <p:nvSpPr>
          <p:cNvPr id="28" name="Oval 27"/>
          <p:cNvSpPr/>
          <p:nvPr/>
        </p:nvSpPr>
        <p:spPr>
          <a:xfrm>
            <a:off x="4597298" y="3493008"/>
            <a:ext cx="128016" cy="128016"/>
          </a:xfrm>
          <a:prstGeom prst="ellipse">
            <a:avLst/>
          </a:prstGeom>
          <a:solidFill>
            <a:srgbClr val="E87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5898" y="3447288"/>
            <a:ext cx="276849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50" b="0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疯堂斜巷 · 拍照</a:t>
            </a:r>
          </a:p>
        </p:txBody>
      </p:sp>
      <p:sp>
        <p:nvSpPr>
          <p:cNvPr id="30" name="Oval 29"/>
          <p:cNvSpPr/>
          <p:nvPr/>
        </p:nvSpPr>
        <p:spPr>
          <a:xfrm>
            <a:off x="4597298" y="4059935"/>
            <a:ext cx="128016" cy="128016"/>
          </a:xfrm>
          <a:prstGeom prst="ellipse">
            <a:avLst/>
          </a:prstGeom>
          <a:solidFill>
            <a:srgbClr val="E87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25898" y="4014215"/>
            <a:ext cx="276849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50" b="0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新葡京 · 永利澳门</a:t>
            </a:r>
          </a:p>
        </p:txBody>
      </p:sp>
      <p:sp>
        <p:nvSpPr>
          <p:cNvPr id="32" name="Oval 31"/>
          <p:cNvSpPr/>
          <p:nvPr/>
        </p:nvSpPr>
        <p:spPr>
          <a:xfrm>
            <a:off x="4597298" y="4626864"/>
            <a:ext cx="128016" cy="128016"/>
          </a:xfrm>
          <a:prstGeom prst="ellipse">
            <a:avLst/>
          </a:prstGeom>
          <a:solidFill>
            <a:srgbClr val="E87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25898" y="4581144"/>
            <a:ext cx="276849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50" b="0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轻轨过海到氹仔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97298" y="5486400"/>
            <a:ext cx="2997098" cy="18288"/>
          </a:xfrm>
          <a:prstGeom prst="rect">
            <a:avLst/>
          </a:prstGeom>
          <a:solidFill>
            <a:srgbClr val="E2D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97298" y="5559552"/>
            <a:ext cx="2997098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>
                <a:solidFill>
                  <a:srgbClr val="77726A"/>
                </a:solidFill>
                <a:latin typeface="PingFang SC"/>
                <a:ea typeface="PingFang SC"/>
                <a:cs typeface="PingFang SC"/>
              </a:rPr>
              <a:t>喷泉场次以现场为准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97316" y="1783080"/>
            <a:ext cx="3454298" cy="416052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97316" y="1783080"/>
            <a:ext cx="3454298" cy="822960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97316" y="2194560"/>
            <a:ext cx="3454298" cy="411480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25916" y="1938528"/>
            <a:ext cx="299709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晚上 · 氹仔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5916" y="2249424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官也街 · 路氹夜景</a:t>
            </a:r>
          </a:p>
        </p:txBody>
      </p:sp>
      <p:sp>
        <p:nvSpPr>
          <p:cNvPr id="41" name="Oval 40"/>
          <p:cNvSpPr/>
          <p:nvPr/>
        </p:nvSpPr>
        <p:spPr>
          <a:xfrm>
            <a:off x="8325916" y="2926079"/>
            <a:ext cx="128016" cy="128016"/>
          </a:xfrm>
          <a:prstGeom prst="ellipse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54516" y="2880360"/>
            <a:ext cx="276849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50" b="0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官也街晚餐</a:t>
            </a:r>
          </a:p>
        </p:txBody>
      </p:sp>
      <p:sp>
        <p:nvSpPr>
          <p:cNvPr id="43" name="Oval 42"/>
          <p:cNvSpPr/>
          <p:nvPr/>
        </p:nvSpPr>
        <p:spPr>
          <a:xfrm>
            <a:off x="8325916" y="3493008"/>
            <a:ext cx="128016" cy="128016"/>
          </a:xfrm>
          <a:prstGeom prst="ellipse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54516" y="3447288"/>
            <a:ext cx="276849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50" b="0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伦敦人 · 卫兵换岗</a:t>
            </a:r>
          </a:p>
        </p:txBody>
      </p:sp>
      <p:sp>
        <p:nvSpPr>
          <p:cNvPr id="45" name="Oval 44"/>
          <p:cNvSpPr/>
          <p:nvPr/>
        </p:nvSpPr>
        <p:spPr>
          <a:xfrm>
            <a:off x="8325916" y="4059935"/>
            <a:ext cx="128016" cy="128016"/>
          </a:xfrm>
          <a:prstGeom prst="ellipse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54516" y="4014215"/>
            <a:ext cx="276849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50" b="0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永利皇宫 · 喷泉缆车</a:t>
            </a:r>
          </a:p>
        </p:txBody>
      </p:sp>
      <p:sp>
        <p:nvSpPr>
          <p:cNvPr id="47" name="Oval 46"/>
          <p:cNvSpPr/>
          <p:nvPr/>
        </p:nvSpPr>
        <p:spPr>
          <a:xfrm>
            <a:off x="8325916" y="4626864"/>
            <a:ext cx="128016" cy="128016"/>
          </a:xfrm>
          <a:prstGeom prst="ellipse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54516" y="4581144"/>
            <a:ext cx="276849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50" b="0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威尼斯人 · 巴黎人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25916" y="5486400"/>
            <a:ext cx="2997098" cy="18288"/>
          </a:xfrm>
          <a:prstGeom prst="rect">
            <a:avLst/>
          </a:prstGeom>
          <a:solidFill>
            <a:srgbClr val="E2D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25916" y="5559552"/>
            <a:ext cx="2997098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>
                <a:solidFill>
                  <a:srgbClr val="77726A"/>
                </a:solidFill>
                <a:latin typeface="PingFang SC"/>
                <a:ea typeface="PingFang SC"/>
                <a:cs typeface="PingFang SC"/>
              </a:rPr>
              <a:t>22:00 起返程青茂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35508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100" b="0">
                <a:solidFill>
                  <a:srgbClr val="8A8F9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77726A"/>
                </a:solidFill>
                <a:latin typeface="PingFang SC"/>
                <a:ea typeface="PingFang SC"/>
                <a:cs typeface="PingFang SC"/>
              </a:rPr>
              <a:t>NO.2 澳门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1" spc="120">
                <a:solidFill>
                  <a:srgbClr val="8A8F98"/>
                </a:solidFill>
                <a:latin typeface="Arial"/>
                <a:ea typeface="Arial"/>
                <a:cs typeface="Arial"/>
              </a:rPr>
              <a:t>上午 · 世遗线（南→北）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800" b="1">
                <a:solidFill>
                  <a:srgbClr val="142340"/>
                </a:solidFill>
                <a:latin typeface="PingFang SC"/>
                <a:ea typeface="PingFang SC"/>
                <a:cs typeface="PingFang SC"/>
              </a:rPr>
              <a:t>青茂口岸 → 大三巴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371600" cy="36576"/>
          </a:xfrm>
          <a:prstGeom prst="rect">
            <a:avLst/>
          </a:prstGeom>
          <a:solidFill>
            <a:srgbClr val="2FA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09344"/>
            <a:ext cx="11064240" cy="374904"/>
          </a:xfrm>
          <a:prstGeom prst="rect">
            <a:avLst/>
          </a:prstGeom>
          <a:solidFill>
            <a:srgbClr val="EF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36776"/>
            <a:ext cx="960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50" b="1">
                <a:solidFill>
                  <a:srgbClr val="142340"/>
                </a:solidFill>
                <a:latin typeface="Arial"/>
                <a:ea typeface="Arial"/>
                <a:cs typeface="Arial"/>
              </a:rPr>
              <a:t>08:00</a:t>
            </a:r>
          </a:p>
        </p:txBody>
      </p:sp>
      <p:sp>
        <p:nvSpPr>
          <p:cNvPr id="8" name="Oval 7"/>
          <p:cNvSpPr/>
          <p:nvPr/>
        </p:nvSpPr>
        <p:spPr>
          <a:xfrm>
            <a:off x="1700784" y="1746504"/>
            <a:ext cx="128016" cy="128016"/>
          </a:xfrm>
          <a:prstGeom prst="ellipse">
            <a:avLst/>
          </a:prstGeom>
          <a:solidFill>
            <a:srgbClr val="2FA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38528" y="162763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青茂口岸 过关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645920"/>
            <a:ext cx="6172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  <a:cs typeface="PingFang SC"/>
              </a:rPr>
              <a:t>城轨珠海站直达 · 一次放行 · 带通行证+澳门签注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039112"/>
            <a:ext cx="960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50" b="1">
                <a:solidFill>
                  <a:srgbClr val="142340"/>
                </a:solidFill>
                <a:latin typeface="Arial"/>
                <a:ea typeface="Arial"/>
                <a:cs typeface="Arial"/>
              </a:rPr>
              <a:t>08:30</a:t>
            </a:r>
          </a:p>
        </p:txBody>
      </p:sp>
      <p:sp>
        <p:nvSpPr>
          <p:cNvPr id="12" name="Oval 11"/>
          <p:cNvSpPr/>
          <p:nvPr/>
        </p:nvSpPr>
        <p:spPr>
          <a:xfrm>
            <a:off x="1700784" y="2148840"/>
            <a:ext cx="128016" cy="128016"/>
          </a:xfrm>
          <a:prstGeom prst="ellipse">
            <a:avLst/>
          </a:prstGeom>
          <a:solidFill>
            <a:srgbClr val="2FA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38528" y="202996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青茂 → 妈阁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2048256"/>
            <a:ext cx="6172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  <a:cs typeface="PingFang SC"/>
              </a:rPr>
              <a:t>61路（妈阁↔关闸）约20–30分钟；行李多可打车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414016"/>
            <a:ext cx="11064240" cy="374904"/>
          </a:xfrm>
          <a:prstGeom prst="rect">
            <a:avLst/>
          </a:prstGeom>
          <a:solidFill>
            <a:srgbClr val="EF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441448"/>
            <a:ext cx="960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50" b="1">
                <a:solidFill>
                  <a:srgbClr val="142340"/>
                </a:solidFill>
                <a:latin typeface="Arial"/>
                <a:ea typeface="Arial"/>
                <a:cs typeface="Arial"/>
              </a:rPr>
              <a:t>09:00</a:t>
            </a:r>
          </a:p>
        </p:txBody>
      </p:sp>
      <p:sp>
        <p:nvSpPr>
          <p:cNvPr id="17" name="Oval 16"/>
          <p:cNvSpPr/>
          <p:nvPr/>
        </p:nvSpPr>
        <p:spPr>
          <a:xfrm>
            <a:off x="1700784" y="2551176"/>
            <a:ext cx="128016" cy="128016"/>
          </a:xfrm>
          <a:prstGeom prst="ellipse">
            <a:avLst/>
          </a:prstGeom>
          <a:solidFill>
            <a:srgbClr val="2FA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38528" y="2432304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妈阁庙（第一站）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450592"/>
            <a:ext cx="6172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  <a:cs typeface="PingFang SC"/>
              </a:rPr>
              <a:t>相传1488年始建 · 紧邻轻轨妈阁站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843784"/>
            <a:ext cx="960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50" b="1">
                <a:solidFill>
                  <a:srgbClr val="142340"/>
                </a:solidFill>
                <a:latin typeface="Arial"/>
                <a:ea typeface="Arial"/>
                <a:cs typeface="Arial"/>
              </a:rPr>
              <a:t>09:30</a:t>
            </a:r>
          </a:p>
        </p:txBody>
      </p:sp>
      <p:sp>
        <p:nvSpPr>
          <p:cNvPr id="21" name="Oval 20"/>
          <p:cNvSpPr/>
          <p:nvPr/>
        </p:nvSpPr>
        <p:spPr>
          <a:xfrm>
            <a:off x="1700784" y="2953512"/>
            <a:ext cx="128016" cy="128016"/>
          </a:xfrm>
          <a:prstGeom prst="ellipse">
            <a:avLst/>
          </a:prstGeom>
          <a:solidFill>
            <a:srgbClr val="2FA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38528" y="28346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郑家大屋 · 亚婆井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2852928"/>
            <a:ext cx="6172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  <a:cs typeface="PingFang SC"/>
              </a:rPr>
              <a:t>郑观应故居 · 步行约5分钟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218688"/>
            <a:ext cx="11064240" cy="374904"/>
          </a:xfrm>
          <a:prstGeom prst="rect">
            <a:avLst/>
          </a:prstGeom>
          <a:solidFill>
            <a:srgbClr val="EF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3246120"/>
            <a:ext cx="960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50" b="1">
                <a:solidFill>
                  <a:srgbClr val="142340"/>
                </a:solidFill>
                <a:latin typeface="Arial"/>
                <a:ea typeface="Arial"/>
                <a:cs typeface="Arial"/>
              </a:rPr>
              <a:t>10:00</a:t>
            </a:r>
          </a:p>
        </p:txBody>
      </p:sp>
      <p:sp>
        <p:nvSpPr>
          <p:cNvPr id="26" name="Oval 25"/>
          <p:cNvSpPr/>
          <p:nvPr/>
        </p:nvSpPr>
        <p:spPr>
          <a:xfrm>
            <a:off x="1700784" y="3355848"/>
            <a:ext cx="128016" cy="128016"/>
          </a:xfrm>
          <a:prstGeom prst="ellipse">
            <a:avLst/>
          </a:prstGeom>
          <a:solidFill>
            <a:srgbClr val="2FA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38528" y="3236976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圣老楞佐 · 岗顶前地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9240" y="3255264"/>
            <a:ext cx="6172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  <a:cs typeface="PingFang SC"/>
              </a:rPr>
              <a:t>四大古教堂之一 · 步行约6分钟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3648456"/>
            <a:ext cx="960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50" b="1">
                <a:solidFill>
                  <a:srgbClr val="142340"/>
                </a:solidFill>
                <a:latin typeface="Arial"/>
                <a:ea typeface="Arial"/>
                <a:cs typeface="Arial"/>
              </a:rPr>
              <a:t>10:30</a:t>
            </a:r>
          </a:p>
        </p:txBody>
      </p:sp>
      <p:sp>
        <p:nvSpPr>
          <p:cNvPr id="30" name="Oval 29"/>
          <p:cNvSpPr/>
          <p:nvPr/>
        </p:nvSpPr>
        <p:spPr>
          <a:xfrm>
            <a:off x="1700784" y="3758184"/>
            <a:ext cx="128016" cy="128016"/>
          </a:xfrm>
          <a:prstGeom prst="ellipse">
            <a:avLst/>
          </a:prstGeom>
          <a:solidFill>
            <a:srgbClr val="2FA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38528" y="363931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议事亭前地 · 玫瑰堂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3657600"/>
            <a:ext cx="6172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  <a:cs typeface="PingFang SC"/>
              </a:rPr>
              <a:t>玫瑰堂免费入内 · 步行约6分钟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4023360"/>
            <a:ext cx="11064240" cy="374904"/>
          </a:xfrm>
          <a:prstGeom prst="rect">
            <a:avLst/>
          </a:prstGeom>
          <a:solidFill>
            <a:srgbClr val="EF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4050791"/>
            <a:ext cx="960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50" b="1">
                <a:solidFill>
                  <a:srgbClr val="142340"/>
                </a:solidFill>
                <a:latin typeface="Arial"/>
                <a:ea typeface="Arial"/>
                <a:cs typeface="Arial"/>
              </a:rPr>
              <a:t>11:00</a:t>
            </a:r>
          </a:p>
        </p:txBody>
      </p:sp>
      <p:sp>
        <p:nvSpPr>
          <p:cNvPr id="35" name="Oval 34"/>
          <p:cNvSpPr/>
          <p:nvPr/>
        </p:nvSpPr>
        <p:spPr>
          <a:xfrm>
            <a:off x="1700784" y="4160520"/>
            <a:ext cx="128016" cy="128016"/>
          </a:xfrm>
          <a:prstGeom prst="ellipse">
            <a:avLst/>
          </a:prstGeom>
          <a:solidFill>
            <a:srgbClr val="2FA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38528" y="404164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大三巴 · 大炮台 · 博物馆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9240" y="4059935"/>
            <a:ext cx="6172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  <a:cs typeface="PingFang SC"/>
              </a:rPr>
              <a:t>博物馆免费 · 部分周一闭馆（周日OK）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4453128"/>
            <a:ext cx="960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50" b="1">
                <a:solidFill>
                  <a:srgbClr val="142340"/>
                </a:solidFill>
                <a:latin typeface="Arial"/>
                <a:ea typeface="Arial"/>
                <a:cs typeface="Arial"/>
              </a:rPr>
              <a:t>12:30</a:t>
            </a:r>
          </a:p>
        </p:txBody>
      </p:sp>
      <p:sp>
        <p:nvSpPr>
          <p:cNvPr id="39" name="Oval 38"/>
          <p:cNvSpPr/>
          <p:nvPr/>
        </p:nvSpPr>
        <p:spPr>
          <a:xfrm>
            <a:off x="1700784" y="4562856"/>
            <a:ext cx="128016" cy="128016"/>
          </a:xfrm>
          <a:prstGeom prst="ellipse">
            <a:avLst/>
          </a:prstGeom>
          <a:solidFill>
            <a:srgbClr val="F2B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938528" y="4443984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午餐 · 番茄屋葡国菜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4462272"/>
            <a:ext cx="6172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  <a:cs typeface="PingFang SC"/>
              </a:rPr>
              <a:t>焗鸡扒饭+木糠布甸 · 分店待核实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35508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100" b="0">
                <a:solidFill>
                  <a:srgbClr val="8A8F9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77726A"/>
                </a:solidFill>
                <a:latin typeface="PingFang SC"/>
                <a:ea typeface="PingFang SC"/>
                <a:cs typeface="PingFang SC"/>
              </a:rPr>
              <a:t>NO.2 澳门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1" spc="120">
                <a:solidFill>
                  <a:srgbClr val="8A8F98"/>
                </a:solidFill>
                <a:latin typeface="Arial"/>
                <a:ea typeface="Arial"/>
                <a:cs typeface="Arial"/>
              </a:rPr>
              <a:t>下午 + 晚上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800" b="1">
                <a:solidFill>
                  <a:srgbClr val="142340"/>
                </a:solidFill>
                <a:latin typeface="PingFang SC"/>
                <a:ea typeface="PingFang SC"/>
                <a:cs typeface="PingFang SC"/>
              </a:rPr>
              <a:t>东望洋 · 赌场 · 氹仔夜景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371600" cy="36576"/>
          </a:xfrm>
          <a:prstGeom prst="rect">
            <a:avLst/>
          </a:prstGeom>
          <a:solidFill>
            <a:srgbClr val="E87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09344"/>
            <a:ext cx="11064240" cy="374904"/>
          </a:xfrm>
          <a:prstGeom prst="rect">
            <a:avLst/>
          </a:prstGeom>
          <a:solidFill>
            <a:srgbClr val="EF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36776"/>
            <a:ext cx="960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50" b="1">
                <a:solidFill>
                  <a:srgbClr val="142340"/>
                </a:solidFill>
                <a:latin typeface="Arial"/>
                <a:ea typeface="Arial"/>
                <a:cs typeface="Arial"/>
              </a:rPr>
              <a:t>14:00</a:t>
            </a:r>
          </a:p>
        </p:txBody>
      </p:sp>
      <p:sp>
        <p:nvSpPr>
          <p:cNvPr id="8" name="Oval 7"/>
          <p:cNvSpPr/>
          <p:nvPr/>
        </p:nvSpPr>
        <p:spPr>
          <a:xfrm>
            <a:off x="1700784" y="1746504"/>
            <a:ext cx="128016" cy="128016"/>
          </a:xfrm>
          <a:prstGeom prst="ellipse">
            <a:avLst/>
          </a:prstGeom>
          <a:solidFill>
            <a:srgbClr val="E87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38528" y="162763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东望洋灯塔 · 东望洋新街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645920"/>
            <a:ext cx="6172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  <a:cs typeface="PingFang SC"/>
              </a:rPr>
              <a:t>灯塔不开放 · 药房坐电梯上坡 · 雪地殿禁拍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039112"/>
            <a:ext cx="960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50" b="1">
                <a:solidFill>
                  <a:srgbClr val="142340"/>
                </a:solidFill>
                <a:latin typeface="Arial"/>
                <a:ea typeface="Arial"/>
                <a:cs typeface="Arial"/>
              </a:rPr>
              <a:t>15:30</a:t>
            </a:r>
          </a:p>
        </p:txBody>
      </p:sp>
      <p:sp>
        <p:nvSpPr>
          <p:cNvPr id="12" name="Oval 11"/>
          <p:cNvSpPr/>
          <p:nvPr/>
        </p:nvSpPr>
        <p:spPr>
          <a:xfrm>
            <a:off x="1700784" y="2148840"/>
            <a:ext cx="128016" cy="128016"/>
          </a:xfrm>
          <a:prstGeom prst="ellipse">
            <a:avLst/>
          </a:prstGeom>
          <a:solidFill>
            <a:srgbClr val="E87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38528" y="202996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疯堂斜巷（望德堂区）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2048256"/>
            <a:ext cx="6172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  <a:cs typeface="PingFang SC"/>
              </a:rPr>
              <a:t>多巴胺色系葡式建筑 · 适合拍照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414016"/>
            <a:ext cx="11064240" cy="374904"/>
          </a:xfrm>
          <a:prstGeom prst="rect">
            <a:avLst/>
          </a:prstGeom>
          <a:solidFill>
            <a:srgbClr val="EF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441448"/>
            <a:ext cx="960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50" b="1">
                <a:solidFill>
                  <a:srgbClr val="142340"/>
                </a:solidFill>
                <a:latin typeface="Arial"/>
                <a:ea typeface="Arial"/>
                <a:cs typeface="Arial"/>
              </a:rPr>
              <a:t>16:30</a:t>
            </a:r>
          </a:p>
        </p:txBody>
      </p:sp>
      <p:sp>
        <p:nvSpPr>
          <p:cNvPr id="17" name="Oval 16"/>
          <p:cNvSpPr/>
          <p:nvPr/>
        </p:nvSpPr>
        <p:spPr>
          <a:xfrm>
            <a:off x="1700784" y="2551176"/>
            <a:ext cx="128016" cy="128016"/>
          </a:xfrm>
          <a:prstGeom prst="ellipse">
            <a:avLst/>
          </a:prstGeom>
          <a:solidFill>
            <a:srgbClr val="E87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38528" y="2432304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新葡京 · 永利澳门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450592"/>
            <a:ext cx="6172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  <a:cs typeface="PingFang SC"/>
              </a:rPr>
              <a:t>赌场需21岁+证件 · 禁拍 · 发财树每整点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843784"/>
            <a:ext cx="960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50" b="1">
                <a:solidFill>
                  <a:srgbClr val="142340"/>
                </a:solidFill>
                <a:latin typeface="Arial"/>
                <a:ea typeface="Arial"/>
                <a:cs typeface="Arial"/>
              </a:rPr>
              <a:t>17:30</a:t>
            </a:r>
          </a:p>
        </p:txBody>
      </p:sp>
      <p:sp>
        <p:nvSpPr>
          <p:cNvPr id="21" name="Oval 20"/>
          <p:cNvSpPr/>
          <p:nvPr/>
        </p:nvSpPr>
        <p:spPr>
          <a:xfrm>
            <a:off x="1700784" y="2953512"/>
            <a:ext cx="128016" cy="128016"/>
          </a:xfrm>
          <a:prstGeom prst="ellipse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38528" y="28346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过海到氹仔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2852928"/>
            <a:ext cx="6172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  <a:cs typeface="PingFang SC"/>
              </a:rPr>
              <a:t>轻轨 妈阁站→排角站 约10分钟；或26A/33/34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218688"/>
            <a:ext cx="11064240" cy="374904"/>
          </a:xfrm>
          <a:prstGeom prst="rect">
            <a:avLst/>
          </a:prstGeom>
          <a:solidFill>
            <a:srgbClr val="EF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3246120"/>
            <a:ext cx="960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50" b="1">
                <a:solidFill>
                  <a:srgbClr val="142340"/>
                </a:solidFill>
                <a:latin typeface="Arial"/>
                <a:ea typeface="Arial"/>
                <a:cs typeface="Arial"/>
              </a:rPr>
              <a:t>18:00</a:t>
            </a:r>
          </a:p>
        </p:txBody>
      </p:sp>
      <p:sp>
        <p:nvSpPr>
          <p:cNvPr id="26" name="Oval 25"/>
          <p:cNvSpPr/>
          <p:nvPr/>
        </p:nvSpPr>
        <p:spPr>
          <a:xfrm>
            <a:off x="1700784" y="3355848"/>
            <a:ext cx="128016" cy="128016"/>
          </a:xfrm>
          <a:prstGeom prst="ellipse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38528" y="3236976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官也街晚餐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9240" y="3255264"/>
            <a:ext cx="6172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  <a:cs typeface="PingFang SC"/>
              </a:rPr>
              <a:t>安德鲁蛋挞 · 世记猪扒包 · 泽贤记糯米糍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3648456"/>
            <a:ext cx="960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50" b="1">
                <a:solidFill>
                  <a:srgbClr val="142340"/>
                </a:solidFill>
                <a:latin typeface="Arial"/>
                <a:ea typeface="Arial"/>
                <a:cs typeface="Arial"/>
              </a:rPr>
              <a:t>19:30</a:t>
            </a:r>
          </a:p>
        </p:txBody>
      </p:sp>
      <p:sp>
        <p:nvSpPr>
          <p:cNvPr id="30" name="Oval 29"/>
          <p:cNvSpPr/>
          <p:nvPr/>
        </p:nvSpPr>
        <p:spPr>
          <a:xfrm>
            <a:off x="1700784" y="3758184"/>
            <a:ext cx="128016" cy="128016"/>
          </a:xfrm>
          <a:prstGeom prst="ellipse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38528" y="363931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伦敦人 · 卫兵换岗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3657600"/>
            <a:ext cx="6172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  <a:cs typeface="PingFang SC"/>
              </a:rPr>
              <a:t>周二至周日 19:30 / 21:30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4023360"/>
            <a:ext cx="11064240" cy="374904"/>
          </a:xfrm>
          <a:prstGeom prst="rect">
            <a:avLst/>
          </a:prstGeom>
          <a:solidFill>
            <a:srgbClr val="EF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4050791"/>
            <a:ext cx="960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50" b="1">
                <a:solidFill>
                  <a:srgbClr val="142340"/>
                </a:solidFill>
                <a:latin typeface="Arial"/>
                <a:ea typeface="Arial"/>
                <a:cs typeface="Arial"/>
              </a:rPr>
              <a:t>20:30</a:t>
            </a:r>
          </a:p>
        </p:txBody>
      </p:sp>
      <p:sp>
        <p:nvSpPr>
          <p:cNvPr id="35" name="Oval 34"/>
          <p:cNvSpPr/>
          <p:nvPr/>
        </p:nvSpPr>
        <p:spPr>
          <a:xfrm>
            <a:off x="1700784" y="4160520"/>
            <a:ext cx="128016" cy="128016"/>
          </a:xfrm>
          <a:prstGeom prst="ellipse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38528" y="404164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永利皇宫 · 喷泉+缆车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9240" y="4059935"/>
            <a:ext cx="6172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  <a:cs typeface="PingFang SC"/>
              </a:rPr>
              <a:t>19:00后每20分钟一场 · 缆车到22:00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4453128"/>
            <a:ext cx="960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50" b="1">
                <a:solidFill>
                  <a:srgbClr val="142340"/>
                </a:solidFill>
                <a:latin typeface="Arial"/>
                <a:ea typeface="Arial"/>
                <a:cs typeface="Arial"/>
              </a:rPr>
              <a:t>21:30</a:t>
            </a:r>
          </a:p>
        </p:txBody>
      </p:sp>
      <p:sp>
        <p:nvSpPr>
          <p:cNvPr id="39" name="Oval 38"/>
          <p:cNvSpPr/>
          <p:nvPr/>
        </p:nvSpPr>
        <p:spPr>
          <a:xfrm>
            <a:off x="1700784" y="4562856"/>
            <a:ext cx="128016" cy="128016"/>
          </a:xfrm>
          <a:prstGeom prst="ellipse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938528" y="4443984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威尼斯人 · 巴黎人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4462272"/>
            <a:ext cx="6172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  <a:cs typeface="PingFang SC"/>
              </a:rPr>
              <a:t>大运河购物中心 · 天桥拍铁塔夜景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4828032"/>
            <a:ext cx="11064240" cy="374904"/>
          </a:xfrm>
          <a:prstGeom prst="rect">
            <a:avLst/>
          </a:prstGeom>
          <a:solidFill>
            <a:srgbClr val="EF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4855464"/>
            <a:ext cx="960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50" b="1">
                <a:solidFill>
                  <a:srgbClr val="142340"/>
                </a:solidFill>
                <a:latin typeface="Arial"/>
                <a:ea typeface="Arial"/>
                <a:cs typeface="Arial"/>
              </a:rPr>
              <a:t>22:00</a:t>
            </a:r>
          </a:p>
        </p:txBody>
      </p:sp>
      <p:sp>
        <p:nvSpPr>
          <p:cNvPr id="44" name="Oval 43"/>
          <p:cNvSpPr/>
          <p:nvPr/>
        </p:nvSpPr>
        <p:spPr>
          <a:xfrm>
            <a:off x="1700784" y="4965192"/>
            <a:ext cx="128016" cy="128016"/>
          </a:xfrm>
          <a:prstGeom prst="ellipse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938528" y="484632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返程 · 青茂口岸出关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49240" y="4864608"/>
            <a:ext cx="6172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  <a:cs typeface="PingFang SC"/>
              </a:rPr>
              <a:t>34/MT4 或 妈阁站换61路 · 24小时通关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35508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100" b="0">
                <a:solidFill>
                  <a:srgbClr val="8A8F9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77726A"/>
                </a:solidFill>
                <a:latin typeface="PingFang SC"/>
                <a:ea typeface="PingFang SC"/>
                <a:cs typeface="PingFang SC"/>
              </a:rPr>
              <a:t>NO.2 澳门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1" spc="120">
                <a:solidFill>
                  <a:srgbClr val="8A8F98"/>
                </a:solidFill>
                <a:latin typeface="Arial"/>
                <a:ea typeface="Arial"/>
                <a:cs typeface="Arial"/>
              </a:rPr>
              <a:t>GOOD TO KNOW · 重点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800" b="1">
                <a:solidFill>
                  <a:srgbClr val="142340"/>
                </a:solidFill>
                <a:latin typeface="PingFang SC"/>
                <a:ea typeface="PingFang SC"/>
                <a:cs typeface="PingFang SC"/>
              </a:rPr>
              <a:t>关键提示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371600" cy="36576"/>
          </a:xfrm>
          <a:prstGeom prst="rect">
            <a:avLst/>
          </a:prstGeom>
          <a:solidFill>
            <a:srgbClr val="F2B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0">
                <a:solidFill>
                  <a:srgbClr val="77726A"/>
                </a:solidFill>
                <a:latin typeface="PingFang SC"/>
                <a:ea typeface="PingFang SC"/>
                <a:cs typeface="PingFang SC"/>
              </a:rPr>
              <a:t>把有限的白天留给世遗步行与氹仔夜景，跨区一律交给公交/轻轨。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48840"/>
            <a:ext cx="5349240" cy="1874519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146304" cy="1874519"/>
          </a:xfrm>
          <a:prstGeom prst="rect">
            <a:avLst/>
          </a:prstGeom>
          <a:solidFill>
            <a:srgbClr val="2FA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7" y="240487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>
                <a:solidFill>
                  <a:srgbClr val="142340"/>
                </a:solidFill>
                <a:latin typeface="PingFang SC"/>
                <a:ea typeface="PingFang SC"/>
                <a:cs typeface="PingFang SC"/>
              </a:rPr>
              <a:t>世遗线靠步行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2990088"/>
            <a:ext cx="466344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妈阁庙一路往北走到大三巴，点与点步行5–8分钟，全程不用坐车。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148840"/>
            <a:ext cx="5349240" cy="1874519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148840"/>
            <a:ext cx="146304" cy="1874519"/>
          </a:xfrm>
          <a:prstGeom prst="rect">
            <a:avLst/>
          </a:prstGeom>
          <a:solidFill>
            <a:srgbClr val="E87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240487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>
                <a:solidFill>
                  <a:srgbClr val="142340"/>
                </a:solidFill>
                <a:latin typeface="PingFang SC"/>
                <a:ea typeface="PingFang SC"/>
                <a:cs typeface="PingFang SC"/>
              </a:rPr>
              <a:t>东望洋灯塔不开放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2990088"/>
            <a:ext cx="466344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灯塔常年不对外开放，只能在松山外围看 + 东望洋新街拍同款机位。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79392"/>
            <a:ext cx="5349240" cy="1874519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279392"/>
            <a:ext cx="146304" cy="1874519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7" y="4535424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>
                <a:solidFill>
                  <a:srgbClr val="142340"/>
                </a:solidFill>
                <a:latin typeface="PingFang SC"/>
                <a:ea typeface="PingFang SC"/>
                <a:cs typeface="PingFang SC"/>
              </a:rPr>
              <a:t>过海首选轻轨氹仔线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7" y="5120640"/>
            <a:ext cx="466344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到妈阁站上车 → 排角站（官也街）约10分钟，比打车省心省钱。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279392"/>
            <a:ext cx="5349240" cy="1874519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4279392"/>
            <a:ext cx="146304" cy="1874519"/>
          </a:xfrm>
          <a:prstGeom prst="rect">
            <a:avLst/>
          </a:prstGeom>
          <a:solidFill>
            <a:srgbClr val="F2B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4535424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>
                <a:solidFill>
                  <a:srgbClr val="142340"/>
                </a:solidFill>
                <a:latin typeface="PingFang SC"/>
                <a:ea typeface="PingFang SC"/>
                <a:cs typeface="PingFang SC"/>
              </a:rPr>
              <a:t>路氹酒店连成一片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8" y="5120640"/>
            <a:ext cx="466344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威尼斯人/巴黎人/伦敦人/永利皇宫步行连廊+免费接驳，无需打车。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35508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100" b="0">
                <a:solidFill>
                  <a:srgbClr val="8A8F9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77726A"/>
                </a:solidFill>
                <a:latin typeface="PingFang SC"/>
                <a:ea typeface="PingFang SC"/>
                <a:cs typeface="PingFang SC"/>
              </a:rPr>
              <a:t>NO.2 澳门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1" spc="120">
                <a:solidFill>
                  <a:srgbClr val="8A8F98"/>
                </a:solidFill>
                <a:latin typeface="Arial"/>
                <a:ea typeface="Arial"/>
                <a:cs typeface="Arial"/>
              </a:rPr>
              <a:t>ROUTE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800" b="1">
                <a:solidFill>
                  <a:srgbClr val="142340"/>
                </a:solidFill>
                <a:latin typeface="PingFang SC"/>
                <a:ea typeface="PingFang SC"/>
                <a:cs typeface="PingFang SC"/>
              </a:rPr>
              <a:t>动线地图标注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371600" cy="36576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澳门一日游地图_10.4_青茂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807" y="1691640"/>
            <a:ext cx="7498079" cy="47295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100" b="0">
                <a:solidFill>
                  <a:srgbClr val="77726A"/>
                </a:solidFill>
                <a:latin typeface="PingFang SC"/>
                <a:ea typeface="PingFang SC"/>
                <a:cs typeface="PingFang SC"/>
              </a:rPr>
              <a:t>绿实线＝世遗区步行　蓝虚线＝跨区公交/轻轨　·　编号为行程顺序　·　底图 Esri，坐标 OpenStreetMap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35508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100" b="0">
                <a:solidFill>
                  <a:srgbClr val="8A8F9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77726A"/>
                </a:solidFill>
                <a:latin typeface="PingFang SC"/>
                <a:ea typeface="PingFang SC"/>
                <a:cs typeface="PingFang SC"/>
              </a:rPr>
              <a:t>NO.2 澳门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1" spc="120">
                <a:solidFill>
                  <a:srgbClr val="8A8F98"/>
                </a:solidFill>
                <a:latin typeface="Arial"/>
                <a:ea typeface="Arial"/>
                <a:cs typeface="Arial"/>
              </a:rPr>
              <a:t>GOOD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800" b="1">
                <a:solidFill>
                  <a:srgbClr val="142340"/>
                </a:solidFill>
                <a:latin typeface="PingFang SC"/>
                <a:ea typeface="PingFang SC"/>
                <a:cs typeface="PingFang SC"/>
              </a:rPr>
              <a:t>实用信息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371600" cy="36576"/>
          </a:xfrm>
          <a:prstGeom prst="rect">
            <a:avLst/>
          </a:prstGeom>
          <a:solidFill>
            <a:srgbClr val="2FA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972800" cy="786384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28016" cy="786384"/>
          </a:xfrm>
          <a:prstGeom prst="rect">
            <a:avLst/>
          </a:prstGeom>
          <a:solidFill>
            <a:srgbClr val="2FA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92807"/>
            <a:ext cx="356616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1">
                <a:solidFill>
                  <a:srgbClr val="142340"/>
                </a:solidFill>
                <a:latin typeface="PingFang SC"/>
                <a:ea typeface="PingFang SC"/>
                <a:cs typeface="PingFang SC"/>
              </a:rPr>
              <a:t>青茂口岸通关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892807"/>
            <a:ext cx="68580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一次放行 · 24小时通关；国庆尽量早到；需往来港澳通行证+有效澳门签注。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79191"/>
            <a:ext cx="10972800" cy="786384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679191"/>
            <a:ext cx="128016" cy="786384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88920"/>
            <a:ext cx="356616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1">
                <a:solidFill>
                  <a:srgbClr val="142340"/>
                </a:solidFill>
                <a:latin typeface="PingFang SC"/>
                <a:ea typeface="PingFang SC"/>
                <a:cs typeface="PingFang SC"/>
              </a:rPr>
              <a:t>公交 · 轻轨优先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788920"/>
            <a:ext cx="68580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办澳门通或用MPay乘车码，45分钟内巴士换乘有优惠；投币现金不设找零。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575303"/>
            <a:ext cx="10972800" cy="786384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575303"/>
            <a:ext cx="128016" cy="786384"/>
          </a:xfrm>
          <a:prstGeom prst="rect">
            <a:avLst/>
          </a:prstGeom>
          <a:solidFill>
            <a:srgbClr val="E87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85031"/>
            <a:ext cx="356616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1">
                <a:solidFill>
                  <a:srgbClr val="142340"/>
                </a:solidFill>
                <a:latin typeface="PingFang SC"/>
                <a:ea typeface="PingFang SC"/>
                <a:cs typeface="PingFang SC"/>
              </a:rPr>
              <a:t>发财树 · 喷泉场次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685031"/>
            <a:ext cx="68580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永利澳门发财树12:00–22:00每整点一场；水火喷泉周四场次待现场核实。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471416"/>
            <a:ext cx="10972800" cy="786384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471416"/>
            <a:ext cx="128016" cy="786384"/>
          </a:xfrm>
          <a:prstGeom prst="rect">
            <a:avLst/>
          </a:prstGeom>
          <a:solidFill>
            <a:srgbClr val="F2B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581144"/>
            <a:ext cx="356616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1">
                <a:solidFill>
                  <a:srgbClr val="142340"/>
                </a:solidFill>
                <a:latin typeface="PingFang SC"/>
                <a:ea typeface="PingFang SC"/>
                <a:cs typeface="PingFang SC"/>
              </a:rPr>
              <a:t>赌场须知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581144"/>
            <a:ext cx="68580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进入须年满21岁并携带证件，场内禁止拍照。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367527"/>
            <a:ext cx="10972800" cy="786384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367527"/>
            <a:ext cx="128016" cy="786384"/>
          </a:xfrm>
          <a:prstGeom prst="rect">
            <a:avLst/>
          </a:prstGeom>
          <a:solidFill>
            <a:srgbClr val="14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477255"/>
            <a:ext cx="356616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1">
                <a:solidFill>
                  <a:srgbClr val="142340"/>
                </a:solidFill>
                <a:latin typeface="PingFang SC"/>
                <a:ea typeface="PingFang SC"/>
                <a:cs typeface="PingFang SC"/>
              </a:rPr>
              <a:t>币种与现金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5477255"/>
            <a:ext cx="68580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PingFang SC"/>
                <a:ea typeface="PingFang SC"/>
                <a:cs typeface="PingFang SC"/>
              </a:rPr>
              <a:t>澳门元(MOP)为主，港币常按1:1收较吃亏；小店与公交备少量零钱。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35508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100" b="0">
                <a:solidFill>
                  <a:srgbClr val="8A8F9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77726A"/>
                </a:solidFill>
                <a:latin typeface="PingFang SC"/>
                <a:ea typeface="PingFang SC"/>
                <a:cs typeface="PingFang SC"/>
              </a:rPr>
              <a:t>NO.2 澳门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E87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玩得開心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520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 spc="200">
                <a:solidFill>
                  <a:srgbClr val="F2B441"/>
                </a:solidFill>
                <a:latin typeface="Arial"/>
                <a:ea typeface="Arial"/>
                <a:cs typeface="Arial"/>
              </a:rPr>
              <a:t>ENJOY MACAU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297680"/>
            <a:ext cx="10424160" cy="18288"/>
          </a:xfrm>
          <a:prstGeom prst="rect">
            <a:avLst/>
          </a:prstGeom>
          <a:solidFill>
            <a:srgbClr val="334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5262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0">
                <a:solidFill>
                  <a:srgbClr val="C9D4EA"/>
                </a:solidFill>
                <a:latin typeface="PingFang SC"/>
                <a:ea typeface="PingFang SC"/>
                <a:cs typeface="PingFang SC"/>
              </a:rPr>
              <a:t>青茂口岸24小时通关，返程从容；出发前用高德/百度地图复核班次与末班时间。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355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8A8F98"/>
                </a:solidFill>
                <a:latin typeface="Arial"/>
                <a:ea typeface="Arial"/>
                <a:cs typeface="Arial"/>
              </a:rPr>
              <a:t>Prepared with QoderWork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