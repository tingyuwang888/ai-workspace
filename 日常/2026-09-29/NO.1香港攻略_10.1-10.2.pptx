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ictoria_harbour_night_1790678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0A1428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500" b="1">
                <a:solidFill>
                  <a:srgbClr val="F2B441"/>
                </a:solidFill>
                <a:latin typeface="Arial"/>
                <a:ea typeface="PingFang SC"/>
              </a:rPr>
              <a:t>HONG KONG · 2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PingFang SC"/>
                <a:ea typeface="PingFang SC"/>
              </a:rPr>
              <a:t>NO.1 香港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200" b="0">
                <a:solidFill>
                  <a:srgbClr val="E6ECF7"/>
                </a:solidFill>
                <a:latin typeface="PingFang SC"/>
                <a:ea typeface="PingFang SC"/>
              </a:rPr>
              <a:t>兩日行程攻略 · 旺角九龍 × 中環山頂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709160"/>
            <a:ext cx="2093976" cy="457200"/>
          </a:xfrm>
          <a:prstGeom prst="roundRect">
            <a:avLst/>
          </a:prstGeom>
          <a:noFill/>
          <a:ln w="19050">
            <a:solidFill>
              <a:srgbClr val="E87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91456"/>
            <a:ext cx="2093976" cy="329184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10.1 – 10.2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2696" y="4709160"/>
            <a:ext cx="1627632" cy="457200"/>
          </a:xfrm>
          <a:prstGeom prst="roundRect">
            <a:avLst/>
          </a:prstGeom>
          <a:noFill/>
          <a:ln w="19050">
            <a:solidFill>
              <a:srgbClr val="2FA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4791456"/>
            <a:ext cx="1627632" cy="329184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西九龍站 大本營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4709160"/>
            <a:ext cx="1472184" cy="457200"/>
          </a:xfrm>
          <a:prstGeom prst="roundRect">
            <a:avLst/>
          </a:prstGeom>
          <a:noFill/>
          <a:ln w="19050">
            <a:solidFill>
              <a:srgbClr val="3B6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4791456"/>
            <a:ext cx="1472184" cy="329184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高鐵往返深圳北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8251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00" b="0">
                <a:solidFill>
                  <a:srgbClr val="C9D4EA"/>
                </a:solidFill>
                <a:latin typeface="Arial"/>
                <a:ea typeface="PingFang SC"/>
              </a:rPr>
              <a:t>Prepared with QoderWork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E8734A"/>
                </a:solidFill>
                <a:latin typeface="PingFang SC"/>
                <a:ea typeface="PingFang SC"/>
              </a:rPr>
              <a:t>TRIP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</a:rPr>
              <a:t>行程總覽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371600" cy="41148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822960"/>
          </a:xfrm>
          <a:prstGeom prst="round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349240" cy="41148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1938528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500" b="1">
                <a:solidFill>
                  <a:srgbClr val="FFEFE6"/>
                </a:solidFill>
                <a:latin typeface="Arial"/>
                <a:ea typeface="PingFang SC"/>
              </a:rPr>
              <a:t>Day 1 · 10.1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249424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旺角 + 九龍 + 尖沙咀</a:t>
            </a:r>
          </a:p>
        </p:txBody>
      </p:sp>
      <p:sp>
        <p:nvSpPr>
          <p:cNvPr id="12" name="Oval 11"/>
          <p:cNvSpPr/>
          <p:nvPr/>
        </p:nvSpPr>
        <p:spPr>
          <a:xfrm>
            <a:off x="960119" y="298094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288036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佳記早午餐 → 朗豪坊·女人街</a:t>
            </a:r>
          </a:p>
        </p:txBody>
      </p:sp>
      <p:sp>
        <p:nvSpPr>
          <p:cNvPr id="14" name="Oval 13"/>
          <p:cNvSpPr/>
          <p:nvPr/>
        </p:nvSpPr>
        <p:spPr>
          <a:xfrm>
            <a:off x="960119" y="3547872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3447288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大角咀麥兜街景 → 油麻地果欄</a:t>
            </a:r>
          </a:p>
        </p:txBody>
      </p:sp>
      <p:sp>
        <p:nvSpPr>
          <p:cNvPr id="16" name="Oval 15"/>
          <p:cNvSpPr/>
          <p:nvPr/>
        </p:nvSpPr>
        <p:spPr>
          <a:xfrm>
            <a:off x="960119" y="4114800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4014215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沙嗲王正餐 → Donki尖沙咀店</a:t>
            </a:r>
          </a:p>
        </p:txBody>
      </p:sp>
      <p:sp>
        <p:nvSpPr>
          <p:cNvPr id="18" name="Oval 17"/>
          <p:cNvSpPr/>
          <p:nvPr/>
        </p:nvSpPr>
        <p:spPr>
          <a:xfrm>
            <a:off x="960119" y="4681728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4581144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星光大道維港夜景 + 幻彩詠香江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19" y="5486400"/>
            <a:ext cx="4709160" cy="18288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55595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E8734A"/>
                </a:solidFill>
                <a:latin typeface="PingFang SC"/>
                <a:ea typeface="PingFang SC"/>
              </a:rPr>
              <a:t>末班高鐵  西九龍 22:26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3492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783080"/>
            <a:ext cx="5349240" cy="822960"/>
          </a:xfrm>
          <a:prstGeom prst="round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194560"/>
            <a:ext cx="5349240" cy="41148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938528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500" b="1">
                <a:solidFill>
                  <a:srgbClr val="E6EEFF"/>
                </a:solidFill>
                <a:latin typeface="Arial"/>
                <a:ea typeface="PingFang SC"/>
              </a:rPr>
              <a:t>Day 2 · 10.2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249424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  <a:ea typeface="PingFang SC"/>
              </a:rPr>
              <a:t>中環 + 天星小輪 + 太平山頂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980944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0568" y="2880360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Fineprint早餐 → 中環街市·文創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3547872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3447288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天星小輪往返維港 + 尖沙咀午餐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4114800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4014215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山頂纜車上山（坐右側）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468172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0568" y="4581144"/>
            <a:ext cx="45720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盧吉道免費步道·日落+夜景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5486400"/>
            <a:ext cx="4709160" cy="18288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559552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3B6FD4"/>
                </a:solidFill>
                <a:latin typeface="PingFang SC"/>
                <a:ea typeface="PingFang SC"/>
              </a:rPr>
              <a:t>末班高鐵  西九龍 23:00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r"/>
            <a:r>
              <a:rPr sz="1100" b="1">
                <a:solidFill>
                  <a:srgbClr val="8A8F98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950" b="0">
                <a:solidFill>
                  <a:srgbClr val="8A8F98"/>
                </a:solidFill>
                <a:latin typeface="Arial"/>
                <a:ea typeface="PingFang SC"/>
              </a:rPr>
              <a:t>NO.1 香港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E8734A"/>
                </a:solidFill>
                <a:latin typeface="PingFang SC"/>
                <a:ea typeface="PingFang SC"/>
              </a:rPr>
              <a:t>DAY 1 · 10.1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</a:rPr>
              <a:t>旺角 · 九龍 · 尖沙咀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371600" cy="41148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55064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09:45</a:t>
            </a:r>
          </a:p>
        </p:txBody>
      </p:sp>
      <p:sp>
        <p:nvSpPr>
          <p:cNvPr id="9" name="Oval 8"/>
          <p:cNvSpPr/>
          <p:nvPr/>
        </p:nvSpPr>
        <p:spPr>
          <a:xfrm>
            <a:off x="1700784" y="1755648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64592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西九龍站 → 旺角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64208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荃灣線約 10 分鐘，柯士甸步行 5 分鐘換乘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Arial"/>
                <a:ea typeface="PingFang SC"/>
              </a:rPr>
              <a:t>10:15</a:t>
            </a:r>
          </a:p>
        </p:txBody>
      </p:sp>
      <p:sp>
        <p:nvSpPr>
          <p:cNvPr id="13" name="Oval 12"/>
          <p:cNvSpPr/>
          <p:nvPr/>
        </p:nvSpPr>
        <p:spPr>
          <a:xfrm>
            <a:off x="1700784" y="215798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2048256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佳記餐廳（旺角）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66544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砵蘭街，早午餐，人均約 42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32304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59736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3B6FD4"/>
                </a:solidFill>
                <a:latin typeface="Arial"/>
                <a:ea typeface="PingFang SC"/>
              </a:rPr>
              <a:t>11:15</a:t>
            </a:r>
          </a:p>
        </p:txBody>
      </p:sp>
      <p:sp>
        <p:nvSpPr>
          <p:cNvPr id="18" name="Oval 17"/>
          <p:cNvSpPr/>
          <p:nvPr/>
        </p:nvSpPr>
        <p:spPr>
          <a:xfrm>
            <a:off x="1700784" y="2560320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245059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朗豪坊 · 女人街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68880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地標商場 + 露天市集，12 點後開檔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862072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Arial"/>
                <a:ea typeface="PingFang SC"/>
              </a:rPr>
              <a:t>12:45</a:t>
            </a:r>
          </a:p>
        </p:txBody>
      </p:sp>
      <p:sp>
        <p:nvSpPr>
          <p:cNvPr id="22" name="Oval 21"/>
          <p:cNvSpPr/>
          <p:nvPr/>
        </p:nvSpPr>
        <p:spPr>
          <a:xfrm>
            <a:off x="1700784" y="2962656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285292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沙嗲王 · 彌敦道店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871216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白咖喱香茅豬扒飯，安排在旺角當正餐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36976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64408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14:00</a:t>
            </a:r>
          </a:p>
        </p:txBody>
      </p:sp>
      <p:sp>
        <p:nvSpPr>
          <p:cNvPr id="27" name="Oval 26"/>
          <p:cNvSpPr/>
          <p:nvPr/>
        </p:nvSpPr>
        <p:spPr>
          <a:xfrm>
            <a:off x="1700784" y="3364992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8528" y="325526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大角咀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273552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《麥兜》街景取景的舊街道、天橋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15:15</a:t>
            </a:r>
          </a:p>
        </p:txBody>
      </p:sp>
      <p:sp>
        <p:nvSpPr>
          <p:cNvPr id="31" name="Oval 30"/>
          <p:cNvSpPr/>
          <p:nvPr/>
        </p:nvSpPr>
        <p:spPr>
          <a:xfrm>
            <a:off x="1700784" y="3767328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8528" y="36576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油麻地果欄（備選）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675887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百年果批市場，白天偏空可捨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041648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069080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16:00</a:t>
            </a:r>
          </a:p>
        </p:txBody>
      </p:sp>
      <p:sp>
        <p:nvSpPr>
          <p:cNvPr id="36" name="Oval 35"/>
          <p:cNvSpPr/>
          <p:nvPr/>
        </p:nvSpPr>
        <p:spPr>
          <a:xfrm>
            <a:off x="1700784" y="4169663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8528" y="4059935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南下尖沙咀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078224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沿彌敦道，港鐵約 10 分鐘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471416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3B6FD4"/>
                </a:solidFill>
                <a:latin typeface="Arial"/>
                <a:ea typeface="PingFang SC"/>
              </a:rPr>
              <a:t>16:15</a:t>
            </a:r>
          </a:p>
        </p:txBody>
      </p:sp>
      <p:sp>
        <p:nvSpPr>
          <p:cNvPr id="40" name="Oval 39"/>
          <p:cNvSpPr/>
          <p:nvPr/>
        </p:nvSpPr>
        <p:spPr>
          <a:xfrm>
            <a:off x="1700784" y="4572000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38528" y="446227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Donki 尖沙咀店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480560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日本零食、美妝、熟食一站買齊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846320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873752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17:30</a:t>
            </a:r>
          </a:p>
        </p:txBody>
      </p:sp>
      <p:sp>
        <p:nvSpPr>
          <p:cNvPr id="45" name="Oval 44"/>
          <p:cNvSpPr/>
          <p:nvPr/>
        </p:nvSpPr>
        <p:spPr>
          <a:xfrm>
            <a:off x="1700784" y="4974336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38528" y="486460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尖沙咀 · 星光大道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882896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麥兜/梅艷芳雕像、維港夜景、20:00 幻彩詠香江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276088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21:00</a:t>
            </a:r>
          </a:p>
        </p:txBody>
      </p:sp>
      <p:sp>
        <p:nvSpPr>
          <p:cNvPr id="49" name="Oval 48"/>
          <p:cNvSpPr/>
          <p:nvPr/>
        </p:nvSpPr>
        <p:spPr>
          <a:xfrm>
            <a:off x="1700784" y="5376672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8528" y="526694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尖沙咀 → 西九龍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9240" y="5285232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看完夜景從容返程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650992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678424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22:26</a:t>
            </a:r>
          </a:p>
        </p:txBody>
      </p:sp>
      <p:sp>
        <p:nvSpPr>
          <p:cNvPr id="54" name="Oval 53"/>
          <p:cNvSpPr/>
          <p:nvPr/>
        </p:nvSpPr>
        <p:spPr>
          <a:xfrm>
            <a:off x="1700784" y="5779008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38528" y="566928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末班高鐵 → 深圳北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5687568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西九龍 22:26 發車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r"/>
            <a:r>
              <a:rPr sz="1100" b="1">
                <a:solidFill>
                  <a:srgbClr val="8A8F98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950" b="0">
                <a:solidFill>
                  <a:srgbClr val="8A8F98"/>
                </a:solidFill>
                <a:latin typeface="Arial"/>
                <a:ea typeface="PingFang SC"/>
              </a:rPr>
              <a:t>NO.1 香港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3B6FD4"/>
                </a:solidFill>
                <a:latin typeface="PingFang SC"/>
                <a:ea typeface="PingFang SC"/>
              </a:rPr>
              <a:t>DAY 2 · 10.2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</a:rPr>
              <a:t>中環 · 天星小輪 · 太平山頂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371600" cy="41148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55064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08:30</a:t>
            </a:r>
          </a:p>
        </p:txBody>
      </p:sp>
      <p:sp>
        <p:nvSpPr>
          <p:cNvPr id="9" name="Oval 8"/>
          <p:cNvSpPr/>
          <p:nvPr/>
        </p:nvSpPr>
        <p:spPr>
          <a:xfrm>
            <a:off x="1700784" y="1755648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164592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西九龍站 → 中環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64208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港鐵直達中環站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57400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Arial"/>
                <a:ea typeface="PingFang SC"/>
              </a:rPr>
              <a:t>09:00</a:t>
            </a:r>
          </a:p>
        </p:txBody>
      </p:sp>
      <p:sp>
        <p:nvSpPr>
          <p:cNvPr id="13" name="Oval 12"/>
          <p:cNvSpPr/>
          <p:nvPr/>
        </p:nvSpPr>
        <p:spPr>
          <a:xfrm>
            <a:off x="1700784" y="215798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2048256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Fineprint（卑利街）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066544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蘇豪，清晨 6 點開門，人均 100–150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32304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59736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3B6FD4"/>
                </a:solidFill>
                <a:latin typeface="Arial"/>
                <a:ea typeface="PingFang SC"/>
              </a:rPr>
              <a:t>10:00</a:t>
            </a:r>
          </a:p>
        </p:txBody>
      </p:sp>
      <p:sp>
        <p:nvSpPr>
          <p:cNvPr id="18" name="Oval 17"/>
          <p:cNvSpPr/>
          <p:nvPr/>
        </p:nvSpPr>
        <p:spPr>
          <a:xfrm>
            <a:off x="1700784" y="2560320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245059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中環街市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68880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舊街市改造的文創空間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862072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Arial"/>
                <a:ea typeface="PingFang SC"/>
              </a:rPr>
              <a:t>11:00</a:t>
            </a:r>
          </a:p>
        </p:txBody>
      </p:sp>
      <p:sp>
        <p:nvSpPr>
          <p:cNvPr id="22" name="Oval 21"/>
          <p:cNvSpPr/>
          <p:nvPr/>
        </p:nvSpPr>
        <p:spPr>
          <a:xfrm>
            <a:off x="1700784" y="2962656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285292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Vission Bakery（備選）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871216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開心果撻、酥皮點心；c-dessert 太遠即放棄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36976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64408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11:45</a:t>
            </a:r>
          </a:p>
        </p:txBody>
      </p:sp>
      <p:sp>
        <p:nvSpPr>
          <p:cNvPr id="27" name="Oval 26"/>
          <p:cNvSpPr/>
          <p:nvPr/>
        </p:nvSpPr>
        <p:spPr>
          <a:xfrm>
            <a:off x="1700784" y="3364992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8528" y="325526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天星小輪 中環→尖沙咀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273552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坐上層看維港，航程約 7–10 分鐘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12:00</a:t>
            </a:r>
          </a:p>
        </p:txBody>
      </p:sp>
      <p:sp>
        <p:nvSpPr>
          <p:cNvPr id="31" name="Oval 30"/>
          <p:cNvSpPr/>
          <p:nvPr/>
        </p:nvSpPr>
        <p:spPr>
          <a:xfrm>
            <a:off x="1700784" y="3767328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8528" y="365760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尖沙咀海旁 / 海港城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675887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海邊午餐、順便逛街，約停 1.5 小時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041648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069080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13:45</a:t>
            </a:r>
          </a:p>
        </p:txBody>
      </p:sp>
      <p:sp>
        <p:nvSpPr>
          <p:cNvPr id="36" name="Oval 35"/>
          <p:cNvSpPr/>
          <p:nvPr/>
        </p:nvSpPr>
        <p:spPr>
          <a:xfrm>
            <a:off x="1700784" y="4169663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8528" y="4059935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天星小輪 尖沙咀→中環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078224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回程再坐一次，換方向看港島天際線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471416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15:30</a:t>
            </a:r>
          </a:p>
        </p:txBody>
      </p:sp>
      <p:sp>
        <p:nvSpPr>
          <p:cNvPr id="40" name="Oval 39"/>
          <p:cNvSpPr/>
          <p:nvPr/>
        </p:nvSpPr>
        <p:spPr>
          <a:xfrm>
            <a:off x="1700784" y="4572000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38528" y="446227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山頂纜車上山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480560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花園道總站，上山坐右側視野佳、需排隊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846320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873752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2FA07A"/>
                </a:solidFill>
                <a:latin typeface="Arial"/>
                <a:ea typeface="PingFang SC"/>
              </a:rPr>
              <a:t>16:15</a:t>
            </a:r>
          </a:p>
        </p:txBody>
      </p:sp>
      <p:sp>
        <p:nvSpPr>
          <p:cNvPr id="45" name="Oval 44"/>
          <p:cNvSpPr/>
          <p:nvPr/>
        </p:nvSpPr>
        <p:spPr>
          <a:xfrm>
            <a:off x="1700784" y="4974336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38528" y="486460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太平山頂 · 盧吉道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4882896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免費步道，白天→日落(約18:15)→夜景；下午茶在凌霄閣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276088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20:30</a:t>
            </a:r>
          </a:p>
        </p:txBody>
      </p:sp>
      <p:sp>
        <p:nvSpPr>
          <p:cNvPr id="49" name="Oval 48"/>
          <p:cNvSpPr/>
          <p:nvPr/>
        </p:nvSpPr>
        <p:spPr>
          <a:xfrm>
            <a:off x="1700784" y="5376672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8528" y="526694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山頂 → 中環 → 西九龍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9240" y="5285232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看滿夜景再下山，港鐵約 25 分鐘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650992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5678424"/>
            <a:ext cx="96012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00" b="1">
                <a:solidFill>
                  <a:srgbClr val="8A8F98"/>
                </a:solidFill>
                <a:latin typeface="Arial"/>
                <a:ea typeface="PingFang SC"/>
              </a:rPr>
              <a:t>23:00</a:t>
            </a:r>
          </a:p>
        </p:txBody>
      </p:sp>
      <p:sp>
        <p:nvSpPr>
          <p:cNvPr id="54" name="Oval 53"/>
          <p:cNvSpPr/>
          <p:nvPr/>
        </p:nvSpPr>
        <p:spPr>
          <a:xfrm>
            <a:off x="1700784" y="5779008"/>
            <a:ext cx="128016" cy="128016"/>
          </a:xfrm>
          <a:prstGeom prst="ellipse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38528" y="566928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</a:rPr>
              <a:t>末班高鐵 → 深圳北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5687568"/>
            <a:ext cx="61722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西九龍 23:00 發車，出關充裕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r"/>
            <a:r>
              <a:rPr sz="1100" b="1">
                <a:solidFill>
                  <a:srgbClr val="8A8F98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950" b="0">
                <a:solidFill>
                  <a:srgbClr val="8A8F98"/>
                </a:solidFill>
                <a:latin typeface="Arial"/>
                <a:ea typeface="PingFang SC"/>
              </a:rPr>
              <a:t>NO.1 香港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2FA07A"/>
                </a:solidFill>
                <a:latin typeface="PingFang SC"/>
                <a:ea typeface="PingFang SC"/>
              </a:rPr>
              <a:t>VICTORIA PEAK · 免費玩法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</a:rPr>
              <a:t>太平山頂 · 重點提示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371600" cy="41148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350" b="0">
                <a:solidFill>
                  <a:srgbClr val="77726A"/>
                </a:solidFill>
                <a:latin typeface="PingFang SC"/>
                <a:ea typeface="PingFang SC"/>
              </a:rPr>
              <a:t>蠟像館與收費摩天台 428 本次不進，把山頂留給纜車、盧吉道日落與維港夜景。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49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146304" cy="1874519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2404872"/>
            <a:ext cx="4709159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800" b="1">
                <a:solidFill>
                  <a:srgbClr val="142340"/>
                </a:solidFill>
                <a:latin typeface="PingFang SC"/>
                <a:ea typeface="PingFang SC"/>
              </a:rPr>
              <a:t>山頂纜車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2990088"/>
            <a:ext cx="4663440" cy="868679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1888 年啟用的古老纜索鐵路；上山坐右側視野最佳，旺季需排隊。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349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48840"/>
            <a:ext cx="146304" cy="1874519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404872"/>
            <a:ext cx="4709159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800" b="1">
                <a:solidFill>
                  <a:srgbClr val="142340"/>
                </a:solidFill>
                <a:latin typeface="PingFang SC"/>
                <a:ea typeface="PingFang SC"/>
              </a:rPr>
              <a:t>盧吉道（免費）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2990088"/>
            <a:ext cx="4663440" cy="868679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纜車站旁環形棧道，360° 俯瞰維港與港島，日落時分最美。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79392"/>
            <a:ext cx="5349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279392"/>
            <a:ext cx="146304" cy="1874519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7" y="4535424"/>
            <a:ext cx="4709159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800" b="1">
                <a:solidFill>
                  <a:srgbClr val="142340"/>
                </a:solidFill>
                <a:latin typeface="PingFang SC"/>
                <a:ea typeface="PingFang SC"/>
              </a:rPr>
              <a:t>爐峰峽 / 扯旗山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7" y="5120640"/>
            <a:ext cx="4663440" cy="868679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552 米本島最高點，免費公園+觀景台，從凌霄閣步行約 20–30 分鐘。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79392"/>
            <a:ext cx="53492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279392"/>
            <a:ext cx="146304" cy="1874519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535424"/>
            <a:ext cx="4709159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800" b="1">
                <a:solidFill>
                  <a:srgbClr val="142340"/>
                </a:solidFill>
                <a:latin typeface="PingFang SC"/>
                <a:ea typeface="PingFang SC"/>
              </a:rPr>
              <a:t>凌霄閣餐飲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5120640"/>
            <a:ext cx="4663440" cy="868679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B2B2B"/>
                </a:solidFill>
                <a:latin typeface="PingFang SC"/>
                <a:ea typeface="PingFang SC"/>
              </a:rPr>
              <a:t>美食廣場+觀景餐廳，只當歇腳吃飯；想吃好可下山到蘭桂坊。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r"/>
            <a:r>
              <a:rPr sz="1100" b="1">
                <a:solidFill>
                  <a:srgbClr val="8A8F98"/>
                </a:solidFill>
                <a:latin typeface="Arial"/>
                <a:ea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950" b="0">
                <a:solidFill>
                  <a:srgbClr val="8A8F98"/>
                </a:solidFill>
                <a:latin typeface="Arial"/>
                <a:ea typeface="PingFang SC"/>
              </a:rPr>
              <a:t>NO.1 香港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3B6FD4"/>
                </a:solidFill>
                <a:latin typeface="PingFang SC"/>
                <a:ea typeface="PingFang SC"/>
              </a:rPr>
              <a:t>ROUTE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</a:rPr>
              <a:t>動線地圖標注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371600" cy="41148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香港行程地图_10.1-10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099" y="1691640"/>
            <a:ext cx="602876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ctr"/>
            <a:r>
              <a:rPr sz="1150" b="0">
                <a:solidFill>
                  <a:srgbClr val="77726A"/>
                </a:solidFill>
                <a:latin typeface="PingFang SC"/>
                <a:ea typeface="PingFang SC"/>
              </a:rPr>
              <a:t>橙＝Day1 九龍　藍＝Day2 港島　·　藍虛線橫穿維港即天星小輪航線　·　坐標為近似值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r"/>
            <a:r>
              <a:rPr sz="1100" b="1">
                <a:solidFill>
                  <a:srgbClr val="8A8F98"/>
                </a:solidFill>
                <a:latin typeface="Arial"/>
                <a:ea typeface="PingFang SC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950" b="0">
                <a:solidFill>
                  <a:srgbClr val="8A8F98"/>
                </a:solidFill>
                <a:latin typeface="Arial"/>
                <a:ea typeface="PingFang SC"/>
              </a:rPr>
              <a:t>NO.1 香港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250" b="1">
                <a:solidFill>
                  <a:srgbClr val="F2B441"/>
                </a:solidFill>
                <a:latin typeface="PingFang SC"/>
                <a:ea typeface="PingFang SC"/>
              </a:rPr>
              <a:t>GOOD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</a:rPr>
              <a:t>實用信息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1371600" cy="41148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72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28016" cy="786384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/>
            <a:r>
              <a:rPr sz="1550" b="1">
                <a:solidFill>
                  <a:srgbClr val="142340"/>
                </a:solidFill>
                <a:latin typeface="PingFang SC"/>
                <a:ea typeface="PingFang SC"/>
              </a:rPr>
              <a:t>公共交通優先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7"/>
            <a:ext cx="685800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PingFang SC"/>
                <a:ea typeface="PingFang SC"/>
              </a:rPr>
              <a:t>八達通／手機八達通通用港鐵、天星小輪、叮叮車；打車僅深夜或趕時間備選。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9191"/>
            <a:ext cx="10972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79191"/>
            <a:ext cx="128016" cy="786384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/>
            <a:r>
              <a:rPr sz="1550" b="1">
                <a:solidFill>
                  <a:srgbClr val="142340"/>
                </a:solidFill>
                <a:latin typeface="PingFang SC"/>
                <a:ea typeface="PingFang SC"/>
              </a:rPr>
              <a:t>天星小輪 中環↔尖沙咀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685800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PingFang SC"/>
                <a:ea typeface="PingFang SC"/>
              </a:rPr>
              <a:t>06:30–23:30；公眾假期上層 $6.5、下層 $5.6，廉價又經典的維港體驗。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3"/>
            <a:ext cx="10972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75303"/>
            <a:ext cx="128016" cy="786384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1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/>
            <a:r>
              <a:rPr sz="1550" b="1">
                <a:solidFill>
                  <a:srgbClr val="142340"/>
                </a:solidFill>
                <a:latin typeface="PingFang SC"/>
                <a:ea typeface="PingFang SC"/>
              </a:rPr>
              <a:t>幻彩詠香江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85031"/>
            <a:ext cx="685800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PingFang SC"/>
                <a:ea typeface="PingFang SC"/>
              </a:rPr>
              <a:t>每晚 20:00 於維港上演，尖沙咀海旁／星光大道一帶觀看最佳。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71416"/>
            <a:ext cx="10972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471416"/>
            <a:ext cx="128016" cy="786384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81144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/>
            <a:r>
              <a:rPr sz="1550" b="1">
                <a:solidFill>
                  <a:srgbClr val="142340"/>
                </a:solidFill>
                <a:latin typeface="PingFang SC"/>
                <a:ea typeface="PingFang SC"/>
              </a:rPr>
              <a:t>10 月天氣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81144"/>
            <a:ext cx="685800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PingFang SC"/>
                <a:ea typeface="PingFang SC"/>
              </a:rPr>
              <a:t>仍炎熱且屬颱風季：帶傘、關注天文台預警，露天環節備應變方案。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67527"/>
            <a:ext cx="10972800" cy="786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367527"/>
            <a:ext cx="128016" cy="786384"/>
          </a:xfrm>
          <a:prstGeom prst="rect">
            <a:avLst/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77255"/>
            <a:ext cx="356616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/>
            <a:r>
              <a:rPr sz="1550" b="1">
                <a:solidFill>
                  <a:srgbClr val="142340"/>
                </a:solidFill>
                <a:latin typeface="PingFang SC"/>
                <a:ea typeface="PingFang SC"/>
              </a:rPr>
              <a:t>步行與現金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77255"/>
            <a:ext cx="6858000" cy="566928"/>
          </a:xfrm>
          <a:prstGeom prst="rect">
            <a:avLst/>
          </a:prstGeom>
          <a:noFill/>
        </p:spPr>
        <p:txBody>
          <a:bodyPr wrap="square" anchor="ctr" lIns="36576" rIns="36576" tIns="9144" bIns="9144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PingFang SC"/>
                <a:ea typeface="PingFang SC"/>
              </a:rPr>
              <a:t>兩天步行量大，穿舒適鞋；隨身留少量港幣現金（小店、果欄常用）。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r"/>
            <a:r>
              <a:rPr sz="1100" b="1">
                <a:solidFill>
                  <a:srgbClr val="8A8F98"/>
                </a:solidFill>
                <a:latin typeface="Arial"/>
                <a:ea typeface="PingFang SC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950" b="0">
                <a:solidFill>
                  <a:srgbClr val="8A8F98"/>
                </a:solidFill>
                <a:latin typeface="Arial"/>
                <a:ea typeface="PingFang SC"/>
              </a:rPr>
              <a:t>NO.1 香港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  <a:ea typeface="PingFang SC"/>
              </a:rPr>
              <a:t>玩得開心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800" b="1">
                <a:solidFill>
                  <a:srgbClr val="F2B441"/>
                </a:solidFill>
                <a:latin typeface="Arial"/>
                <a:ea typeface="PingFang SC"/>
              </a:rPr>
              <a:t>ENJOY HONG KONG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297680"/>
            <a:ext cx="10424160" cy="18288"/>
          </a:xfrm>
          <a:prstGeom prst="rect">
            <a:avLst/>
          </a:prstGeom>
          <a:solidFill>
            <a:srgbClr val="33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400" b="0">
                <a:solidFill>
                  <a:srgbClr val="C9D4EA"/>
                </a:solidFill>
                <a:latin typeface="PingFang SC"/>
                <a:ea typeface="PingFang SC"/>
              </a:rPr>
              <a:t>返程預留過關時間：Day1 西九龍 22:26　|　Day2 西九龍 23:00　·　建議至少提前 60 分鐘到站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9144" bIns="9144">
            <a:noAutofit/>
          </a:bodyPr>
          <a:lstStyle/>
          <a:p>
            <a:pPr algn="l"/>
            <a:r>
              <a:rPr sz="1100" b="0">
                <a:solidFill>
                  <a:srgbClr val="8A99B5"/>
                </a:solidFill>
                <a:latin typeface="Arial"/>
                <a:ea typeface="PingFang SC"/>
              </a:rPr>
              <a:t>Prepared with QoderWork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